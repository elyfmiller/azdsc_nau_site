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d7203d15304ba8" /><Relationship Type="http://schemas.openxmlformats.org/officeDocument/2006/relationships/extended-properties" Target="/docProps/app.xml" Id="R29d2e54217554aa5" /><Relationship Type="http://schemas.openxmlformats.org/officeDocument/2006/relationships/officeDocument" Target="/ppt/presentation.xml" Id="R0f5bb52aeb4549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a7f0ab4ce44314"/>
  </p:sldMasterIdLst>
  <p:notesMasterIdLst>
    <p:notesMasterId xmlns:r="http://schemas.openxmlformats.org/officeDocument/2006/relationships" r:id="R76686b8690ef4cc2"/>
  </p:notesMasterIdLst>
  <p:sldIdLst>
    <p:sldId xmlns:r="http://schemas.openxmlformats.org/officeDocument/2006/relationships" id="256" r:id="Reed286eb3e094397"/>
    <p:sldId xmlns:r="http://schemas.openxmlformats.org/officeDocument/2006/relationships" id="257" r:id="Rc50950b41eae429c"/>
    <p:sldId xmlns:r="http://schemas.openxmlformats.org/officeDocument/2006/relationships" id="258" r:id="R95c01f90d59a4fb7"/>
    <p:sldId xmlns:r="http://schemas.openxmlformats.org/officeDocument/2006/relationships" id="259" r:id="Rc355d6adfea645d7"/>
    <p:sldId xmlns:r="http://schemas.openxmlformats.org/officeDocument/2006/relationships" id="260" r:id="R7b9342d833d54d34"/>
    <p:sldId xmlns:r="http://schemas.openxmlformats.org/officeDocument/2006/relationships" id="261" r:id="R5ba059674bfa47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1490fcdb7944b9" /><Relationship Type="http://schemas.openxmlformats.org/officeDocument/2006/relationships/slideMaster" Target="/ppt/slideMasters/slideMaster1.xml" Id="Rdea7f0ab4ce44314" /><Relationship Type="http://schemas.openxmlformats.org/officeDocument/2006/relationships/notesMaster" Target="/ppt/notesMasters/notesMaster1.xml" Id="R76686b8690ef4cc2" /><Relationship Type="http://schemas.openxmlformats.org/officeDocument/2006/relationships/presProps" Target="/ppt/presProps.xml" Id="R4b91f59ef61d4008" /><Relationship Type="http://schemas.openxmlformats.org/officeDocument/2006/relationships/tableStyles" Target="/ppt/tableStyles.xml" Id="R43178ae429524a3b" /><Relationship Type="http://schemas.openxmlformats.org/officeDocument/2006/relationships/slide" Target="/ppt/slides/slide1.xml" Id="Reed286eb3e094397" /><Relationship Type="http://schemas.openxmlformats.org/officeDocument/2006/relationships/slide" Target="/ppt/slides/slide2.xml" Id="Rc50950b41eae429c" /><Relationship Type="http://schemas.openxmlformats.org/officeDocument/2006/relationships/slide" Target="/ppt/slides/slide3.xml" Id="R95c01f90d59a4fb7" /><Relationship Type="http://schemas.openxmlformats.org/officeDocument/2006/relationships/slide" Target="/ppt/slides/slide4.xml" Id="Rc355d6adfea645d7" /><Relationship Type="http://schemas.openxmlformats.org/officeDocument/2006/relationships/slide" Target="/ppt/slides/slide5.xml" Id="R7b9342d833d54d34" /><Relationship Type="http://schemas.openxmlformats.org/officeDocument/2006/relationships/slide" Target="/ppt/slides/slide6.xml" Id="R5ba059674bfa47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8f09ea8fa243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90021a773f4b51" /><Relationship Type="http://schemas.openxmlformats.org/officeDocument/2006/relationships/notesMaster" Target="/ppt/notesMasters/notesMaster1.xml" Id="Rc8460aba78c641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8863326c6d4bf8" /><Relationship Type="http://schemas.openxmlformats.org/officeDocument/2006/relationships/notesMaster" Target="/ppt/notesMasters/notesMaster1.xml" Id="R71851ee94e0a49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3e37395c424504" /><Relationship Type="http://schemas.openxmlformats.org/officeDocument/2006/relationships/notesMaster" Target="/ppt/notesMasters/notesMaster1.xml" Id="R263b0674f6024e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3735509ace482d" /><Relationship Type="http://schemas.openxmlformats.org/officeDocument/2006/relationships/notesMaster" Target="/ppt/notesMasters/notesMaster1.xml" Id="R1ca861f50d5840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17801c5ef24a96" /><Relationship Type="http://schemas.openxmlformats.org/officeDocument/2006/relationships/notesMaster" Target="/ppt/notesMasters/notesMaster1.xml" Id="R429194664fad4e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37f73503224761" /><Relationship Type="http://schemas.openxmlformats.org/officeDocument/2006/relationships/notesMaster" Target="/ppt/notesMasters/notesMaster1.xml" Id="Rc9370cc5c69a4d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799825dce4d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f80bb3e12d45fa" /><Relationship Type="http://schemas.openxmlformats.org/officeDocument/2006/relationships/slideLayout" Target="/ppt/slideLayouts/slideLayout1.xml" Id="R6a80c7479a244a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80c7479a244a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90525b3d74c22" /><Relationship Type="http://schemas.openxmlformats.org/officeDocument/2006/relationships/image" Target="/ppt/media/image.jpeg" Id="Rcb933eceb701482d" /><Relationship Type="http://schemas.openxmlformats.org/officeDocument/2006/relationships/notesSlide" Target="/ppt/notesSlides/notesSlide1.xml" Id="R2bd99e5f00204f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e846e4b3b453e" /><Relationship Type="http://schemas.openxmlformats.org/officeDocument/2006/relationships/notesSlide" Target="/ppt/notesSlides/notesSlide2.xml" Id="R57ab2a49659148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f3e03a3ba4627" /><Relationship Type="http://schemas.openxmlformats.org/officeDocument/2006/relationships/notesSlide" Target="/ppt/notesSlides/notesSlide3.xml" Id="Ra262b73e7bfc43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4a7c0d4c44a88" /><Relationship Type="http://schemas.openxmlformats.org/officeDocument/2006/relationships/notesSlide" Target="/ppt/notesSlides/notesSlide4.xml" Id="Rd53af40f56ca4d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7b680a8c743b6" /><Relationship Type="http://schemas.openxmlformats.org/officeDocument/2006/relationships/notesSlide" Target="/ppt/notesSlides/notesSlide5.xml" Id="Rd0a0039a329243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8827cc1064c8b" /><Relationship Type="http://schemas.openxmlformats.org/officeDocument/2006/relationships/notesSlide" Target="/ppt/notesSlides/notesSlide6.xml" Id="Re774638a74c64d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33eceb701482d"/>
          <a:srcRect xmlns:a="http://schemas.openxmlformats.org/drawingml/2006/main" l="26977" t="0" r="269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accent-bar">
            <a:extLst xmlns:a="http://schemas.openxmlformats.org/drawingml/2006/main">
              <a:ext uri="{FF2B5EF4-FFF2-40B4-BE49-F238E27FC236}">
                <a16:creationId xmlns:a16="http://schemas.microsoft.com/office/drawing/2014/main" id="{28F5E960-C89D-4635-985C-211BAA79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60D57D0-212A-4F98-A6B2-01B4F5F6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ARIZONA DATA SCIENCE CORPS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6E5750-26F8-48AD-BC3E-2CD69A27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81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D1B2A"/>
                </a:solidFill>
              </a:defRPr>
            </a:pPr>
            <a:r>
              <a:rPr sz="3900" b="1">
                <a:solidFill>
                  <a:srgbClr val="0D1B2A"/>
                </a:solidFill>
              </a:rPr>
              <a:t>Day 1: Data science training starts with classroom purpose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7605BAB-7B77-48C4-BF02-8B510F60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4953000" cy="505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</a:defRPr>
            </a:pPr>
            <a:r>
              <a:rPr sz="1950" b="0">
                <a:solidFill>
                  <a:srgbClr val="4B5563"/>
                </a:solidFill>
              </a:rPr>
              <a:t>Advanced pathway welcome and orientation</a:t>
            </a:r>
          </a:p>
        </p:txBody>
      </p:sp>
      <p:sp>
        <p:nvSpPr>
          <p:cNvPr id="6" name="pill-Learn">
            <a:extLst xmlns:a="http://schemas.openxmlformats.org/drawingml/2006/main">
              <a:ext uri="{FF2B5EF4-FFF2-40B4-BE49-F238E27FC236}">
                <a16:creationId xmlns:a16="http://schemas.microsoft.com/office/drawing/2014/main" id="{8E1CFEFD-E004-495A-B30C-EC10EFA6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ill-text-Learn">
            <a:extLst xmlns:a="http://schemas.openxmlformats.org/drawingml/2006/main">
              <a:ext uri="{FF2B5EF4-FFF2-40B4-BE49-F238E27FC236}">
                <a16:creationId xmlns:a16="http://schemas.microsoft.com/office/drawing/2014/main" id="{BC9FA99D-8334-4F36-A0F4-5E6783CB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Learn</a:t>
            </a:r>
          </a:p>
        </p:txBody>
      </p:sp>
      <p:sp>
        <p:nvSpPr>
          <p:cNvPr id="8" name="pill-Model">
            <a:extLst xmlns:a="http://schemas.openxmlformats.org/drawingml/2006/main">
              <a:ext uri="{FF2B5EF4-FFF2-40B4-BE49-F238E27FC236}">
                <a16:creationId xmlns:a16="http://schemas.microsoft.com/office/drawing/2014/main" id="{19153B70-7700-49AF-B53E-89E9005F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768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ill-text-Model">
            <a:extLst xmlns:a="http://schemas.openxmlformats.org/drawingml/2006/main">
              <a:ext uri="{FF2B5EF4-FFF2-40B4-BE49-F238E27FC236}">
                <a16:creationId xmlns:a16="http://schemas.microsoft.com/office/drawing/2014/main" id="{0A829AA7-9568-4C94-BF19-F5393CA1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72050"/>
            <a:ext cx="990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pill-Teach">
            <a:extLst xmlns:a="http://schemas.openxmlformats.org/drawingml/2006/main">
              <a:ext uri="{FF2B5EF4-FFF2-40B4-BE49-F238E27FC236}">
                <a16:creationId xmlns:a16="http://schemas.microsoft.com/office/drawing/2014/main" id="{E6A25595-D38F-46C6-A7ED-7A55DA99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768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ill-text-Teach">
            <a:extLst xmlns:a="http://schemas.openxmlformats.org/drawingml/2006/main">
              <a:ext uri="{FF2B5EF4-FFF2-40B4-BE49-F238E27FC236}">
                <a16:creationId xmlns:a16="http://schemas.microsoft.com/office/drawing/2014/main" id="{EBCEBBE8-C3F4-4C4B-B86F-C065C623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7205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Teach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F37E5F1-CE69-4ECC-BC8C-810B97CB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334000" cy="338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AZDSC Advanced Pathway | Day 1 Intro | 1</a:t>
            </a:r>
          </a:p>
        </p:txBody>
      </p:sp>
    </p:spTree>
    <p:extLst>
      <p:ext uri="{BB962C8B-B14F-4D97-AF65-F5344CB8AC3E}">
        <p14:creationId xmlns:p14="http://schemas.microsoft.com/office/powerpoint/2010/main" val="1375925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D2B2F2-BDAC-499A-BDC1-EC51F8FD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INSTRUCTOR TEAM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2E7395-5D84-44F0-9CBF-828381AF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D1B2A"/>
                </a:solidFill>
              </a:defRPr>
            </a:pPr>
            <a:r>
              <a:rPr sz="3150" b="1">
                <a:solidFill>
                  <a:srgbClr val="0D1B2A"/>
                </a:solidFill>
              </a:rPr>
              <a:t>You have a team for the coding, modeling, and classroom translation</a:t>
            </a:r>
          </a:p>
        </p:txBody>
      </p:sp>
      <p:sp>
        <p:nvSpPr>
          <p:cNvPr id="3" name="team-0">
            <a:extLst xmlns:a="http://schemas.openxmlformats.org/drawingml/2006/main">
              <a:ext uri="{FF2B5EF4-FFF2-40B4-BE49-F238E27FC236}">
                <a16:creationId xmlns:a16="http://schemas.microsoft.com/office/drawing/2014/main" id="{3C83907F-254F-4D82-BF9B-43074E7E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219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am-name-0">
            <a:extLst xmlns:a="http://schemas.openxmlformats.org/drawingml/2006/main">
              <a:ext uri="{FF2B5EF4-FFF2-40B4-BE49-F238E27FC236}">
                <a16:creationId xmlns:a16="http://schemas.microsoft.com/office/drawing/2014/main" id="{B0FC9DF7-BCC9-491B-ADDB-61084E5B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4765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1B2A"/>
                </a:solidFill>
              </a:defRPr>
            </a:pPr>
            <a:r>
              <a:rPr sz="2100" b="1">
                <a:solidFill>
                  <a:srgbClr val="0D1B2A"/>
                </a:solidFill>
              </a:rPr>
              <a:t>Ye Chen</a:t>
            </a:r>
          </a:p>
        </p:txBody>
      </p:sp>
      <p:sp>
        <p:nvSpPr>
          <p:cNvPr id="5" name="team-role-0">
            <a:extLst xmlns:a="http://schemas.openxmlformats.org/drawingml/2006/main">
              <a:ext uri="{FF2B5EF4-FFF2-40B4-BE49-F238E27FC236}">
                <a16:creationId xmlns:a16="http://schemas.microsoft.com/office/drawing/2014/main" id="{39ED23E5-D3EC-431B-820F-109DE3FB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Workshop goals, modeling connections, reflection</a:t>
            </a:r>
          </a:p>
        </p:txBody>
      </p:sp>
      <p:sp>
        <p:nvSpPr>
          <p:cNvPr id="6" name="team-1">
            <a:extLst xmlns:a="http://schemas.openxmlformats.org/drawingml/2006/main">
              <a:ext uri="{FF2B5EF4-FFF2-40B4-BE49-F238E27FC236}">
                <a16:creationId xmlns:a16="http://schemas.microsoft.com/office/drawing/2014/main" id="{EAC4D9F3-508E-4D3B-A1BE-1E9F8D42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38375"/>
            <a:ext cx="5219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am-name-1">
            <a:extLst xmlns:a="http://schemas.openxmlformats.org/drawingml/2006/main">
              <a:ext uri="{FF2B5EF4-FFF2-40B4-BE49-F238E27FC236}">
                <a16:creationId xmlns:a16="http://schemas.microsoft.com/office/drawing/2014/main" id="{C9ECB0B5-23B8-4BC0-A552-28B0DE4E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28875"/>
            <a:ext cx="24765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1B2A"/>
                </a:solidFill>
              </a:defRPr>
            </a:pPr>
            <a:r>
              <a:rPr sz="2100" b="1">
                <a:solidFill>
                  <a:srgbClr val="0D1B2A"/>
                </a:solidFill>
              </a:rPr>
              <a:t>Avery Drennan</a:t>
            </a:r>
          </a:p>
        </p:txBody>
      </p:sp>
      <p:sp>
        <p:nvSpPr>
          <p:cNvPr id="8" name="team-role-1">
            <a:extLst xmlns:a="http://schemas.openxmlformats.org/drawingml/2006/main">
              <a:ext uri="{FF2B5EF4-FFF2-40B4-BE49-F238E27FC236}">
                <a16:creationId xmlns:a16="http://schemas.microsoft.com/office/drawing/2014/main" id="{279F79DE-2082-4D2C-B0E5-166682BF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2892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Optimization and uncertainty thinking</a:t>
            </a:r>
          </a:p>
        </p:txBody>
      </p:sp>
      <p:sp>
        <p:nvSpPr>
          <p:cNvPr id="9" name="team-2">
            <a:extLst xmlns:a="http://schemas.openxmlformats.org/drawingml/2006/main">
              <a:ext uri="{FF2B5EF4-FFF2-40B4-BE49-F238E27FC236}">
                <a16:creationId xmlns:a16="http://schemas.microsoft.com/office/drawing/2014/main" id="{32A44D44-1009-425C-B34B-2CA9E6D8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38575"/>
            <a:ext cx="5219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am-name-2">
            <a:extLst xmlns:a="http://schemas.openxmlformats.org/drawingml/2006/main">
              <a:ext uri="{FF2B5EF4-FFF2-40B4-BE49-F238E27FC236}">
                <a16:creationId xmlns:a16="http://schemas.microsoft.com/office/drawing/2014/main" id="{C73FE45A-10D1-412D-A32C-44860487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24765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1B2A"/>
                </a:solidFill>
              </a:defRPr>
            </a:pPr>
            <a:r>
              <a:rPr sz="2100" b="1">
                <a:solidFill>
                  <a:srgbClr val="0D1B2A"/>
                </a:solidFill>
              </a:rPr>
              <a:t>Ely Finn Miller</a:t>
            </a:r>
          </a:p>
        </p:txBody>
      </p:sp>
      <p:sp>
        <p:nvSpPr>
          <p:cNvPr id="11" name="team-role-2">
            <a:extLst xmlns:a="http://schemas.openxmlformats.org/drawingml/2006/main">
              <a:ext uri="{FF2B5EF4-FFF2-40B4-BE49-F238E27FC236}">
                <a16:creationId xmlns:a16="http://schemas.microsoft.com/office/drawing/2014/main" id="{56766BD5-9E51-4D2F-B923-1EA1EC06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Python foundations and simulation practice</a:t>
            </a:r>
          </a:p>
        </p:txBody>
      </p:sp>
      <p:sp>
        <p:nvSpPr>
          <p:cNvPr id="12" name="team-3">
            <a:extLst xmlns:a="http://schemas.openxmlformats.org/drawingml/2006/main">
              <a:ext uri="{FF2B5EF4-FFF2-40B4-BE49-F238E27FC236}">
                <a16:creationId xmlns:a16="http://schemas.microsoft.com/office/drawing/2014/main" id="{555FCF8E-CEDC-4085-8C46-FDC9F50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38575"/>
            <a:ext cx="5219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am-name-3">
            <a:extLst xmlns:a="http://schemas.openxmlformats.org/drawingml/2006/main">
              <a:ext uri="{FF2B5EF4-FFF2-40B4-BE49-F238E27FC236}">
                <a16:creationId xmlns:a16="http://schemas.microsoft.com/office/drawing/2014/main" id="{7E8C6094-C210-458A-A554-778DA7A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9075"/>
            <a:ext cx="24765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1B2A"/>
                </a:solidFill>
              </a:defRPr>
            </a:pPr>
            <a:r>
              <a:rPr sz="2100" b="1">
                <a:solidFill>
                  <a:srgbClr val="0D1B2A"/>
                </a:solidFill>
              </a:rPr>
              <a:t>Jaechoul Lee</a:t>
            </a:r>
          </a:p>
        </p:txBody>
      </p:sp>
      <p:sp>
        <p:nvSpPr>
          <p:cNvPr id="14" name="team-role-3">
            <a:extLst xmlns:a="http://schemas.openxmlformats.org/drawingml/2006/main">
              <a:ext uri="{FF2B5EF4-FFF2-40B4-BE49-F238E27FC236}">
                <a16:creationId xmlns:a16="http://schemas.microsoft.com/office/drawing/2014/main" id="{77E615C4-D086-4701-A0A7-8E23AEBB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Regression, logistic regression, and PyTorch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EBEA4FC2-574B-48F8-921F-E909C679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334000" cy="338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AZDSC Advanced Pathway | Day 1 Intro | 2</a:t>
            </a:r>
          </a:p>
        </p:txBody>
      </p:sp>
    </p:spTree>
    <p:extLst>
      <p:ext uri="{BB962C8B-B14F-4D97-AF65-F5344CB8AC3E}">
        <p14:creationId xmlns:p14="http://schemas.microsoft.com/office/powerpoint/2010/main" val="684579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38C0FAA-6A86-4599-9D30-7BF5F298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PARTICIPANT INTRODUCTIONS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764124-1A73-4D8E-BA90-50779842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90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1B2A"/>
                </a:solidFill>
              </a:defRPr>
            </a:pPr>
            <a:r>
              <a:rPr sz="3225" b="1">
                <a:solidFill>
                  <a:srgbClr val="0D1B2A"/>
                </a:solidFill>
              </a:rPr>
              <a:t>Start by naming the classroom you are carrying into the room</a:t>
            </a:r>
          </a:p>
        </p:txBody>
      </p:sp>
      <p:sp>
        <p:nvSpPr>
          <p:cNvPr id="3" name="prompt-bar-0">
            <a:extLst xmlns:a="http://schemas.openxmlformats.org/drawingml/2006/main">
              <a:ext uri="{FF2B5EF4-FFF2-40B4-BE49-F238E27FC236}">
                <a16:creationId xmlns:a16="http://schemas.microsoft.com/office/drawing/2014/main" id="{9D8476A9-6750-4DFB-A665-62F5DA8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876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mpt-num-0">
            <a:extLst xmlns:a="http://schemas.openxmlformats.org/drawingml/2006/main">
              <a:ext uri="{FF2B5EF4-FFF2-40B4-BE49-F238E27FC236}">
                <a16:creationId xmlns:a16="http://schemas.microsoft.com/office/drawing/2014/main" id="{55FD25ED-2EB7-4480-BDF7-15ABD4AA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42900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prompt-0">
            <a:extLst xmlns:a="http://schemas.openxmlformats.org/drawingml/2006/main">
              <a:ext uri="{FF2B5EF4-FFF2-40B4-BE49-F238E27FC236}">
                <a16:creationId xmlns:a16="http://schemas.microsoft.com/office/drawing/2014/main" id="{EE204F02-AB0A-40D5-ABDE-E98F5FD1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83820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D1B2A"/>
                </a:solidFill>
              </a:defRPr>
            </a:pPr>
            <a:r>
              <a:rPr sz="2100" b="0">
                <a:solidFill>
                  <a:srgbClr val="0D1B2A"/>
                </a:solidFill>
              </a:rPr>
              <a:t>Your name, school, and grade or subject area</a:t>
            </a:r>
          </a:p>
        </p:txBody>
      </p:sp>
      <p:sp>
        <p:nvSpPr>
          <p:cNvPr id="6" name="prompt-bar-1">
            <a:extLst xmlns:a="http://schemas.openxmlformats.org/drawingml/2006/main">
              <a:ext uri="{FF2B5EF4-FFF2-40B4-BE49-F238E27FC236}">
                <a16:creationId xmlns:a16="http://schemas.microsoft.com/office/drawing/2014/main" id="{1E6683A6-D2A4-4123-9604-5FF20F18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876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mpt-num-1">
            <a:extLst xmlns:a="http://schemas.openxmlformats.org/drawingml/2006/main">
              <a:ext uri="{FF2B5EF4-FFF2-40B4-BE49-F238E27FC236}">
                <a16:creationId xmlns:a16="http://schemas.microsoft.com/office/drawing/2014/main" id="{9EA57E60-A87C-48BD-965A-3F460E26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342900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prompt-1">
            <a:extLst xmlns:a="http://schemas.openxmlformats.org/drawingml/2006/main">
              <a:ext uri="{FF2B5EF4-FFF2-40B4-BE49-F238E27FC236}">
                <a16:creationId xmlns:a16="http://schemas.microsoft.com/office/drawing/2014/main" id="{1BB2C69F-1BCD-4E1A-B32E-6B1C92C8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05200"/>
            <a:ext cx="83820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D1B2A"/>
                </a:solidFill>
              </a:defRPr>
            </a:pPr>
            <a:r>
              <a:rPr sz="2100" b="0">
                <a:solidFill>
                  <a:srgbClr val="0D1B2A"/>
                </a:solidFill>
              </a:rPr>
              <a:t>One data question your students might care about</a:t>
            </a:r>
          </a:p>
        </p:txBody>
      </p:sp>
      <p:sp>
        <p:nvSpPr>
          <p:cNvPr id="9" name="prompt-bar-2">
            <a:extLst xmlns:a="http://schemas.openxmlformats.org/drawingml/2006/main">
              <a:ext uri="{FF2B5EF4-FFF2-40B4-BE49-F238E27FC236}">
                <a16:creationId xmlns:a16="http://schemas.microsoft.com/office/drawing/2014/main" id="{9838A944-BEEA-4C66-BF51-DE1E4945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876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mpt-num-2">
            <a:extLst xmlns:a="http://schemas.openxmlformats.org/drawingml/2006/main">
              <a:ext uri="{FF2B5EF4-FFF2-40B4-BE49-F238E27FC236}">
                <a16:creationId xmlns:a16="http://schemas.microsoft.com/office/drawing/2014/main" id="{15390A44-EAFA-44A3-ADA2-3776A3F5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342900" cy="66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prompt-2">
            <a:extLst xmlns:a="http://schemas.openxmlformats.org/drawingml/2006/main">
              <a:ext uri="{FF2B5EF4-FFF2-40B4-BE49-F238E27FC236}">
                <a16:creationId xmlns:a16="http://schemas.microsoft.com/office/drawing/2014/main" id="{D877FAE6-7526-499E-BD58-F3E7C393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10100"/>
            <a:ext cx="83820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D1B2A"/>
                </a:solidFill>
              </a:defRPr>
            </a:pPr>
            <a:r>
              <a:rPr sz="2100" b="0">
                <a:solidFill>
                  <a:srgbClr val="0D1B2A"/>
                </a:solidFill>
              </a:rPr>
              <a:t>One thing you want to feel more confident teaching</a:t>
            </a:r>
          </a:p>
        </p:txBody>
      </p:sp>
      <p:sp>
        <p:nvSpPr>
          <p:cNvPr id="12" name="bottom">
            <a:extLst xmlns:a="http://schemas.openxmlformats.org/drawingml/2006/main">
              <a:ext uri="{FF2B5EF4-FFF2-40B4-BE49-F238E27FC236}">
                <a16:creationId xmlns:a16="http://schemas.microsoft.com/office/drawing/2014/main" id="{85909E3B-55E1-4931-83B7-98F5AA93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The goal is not to arrive as a programmer. The goal is to leave with teachable data science moves.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34D3402-36A4-4E54-BEF0-69B85C6B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334000" cy="338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AZDSC Advanced Pathway | Day 1 Intro | 3</a:t>
            </a:r>
          </a:p>
        </p:txBody>
      </p:sp>
    </p:spTree>
    <p:extLst>
      <p:ext uri="{BB962C8B-B14F-4D97-AF65-F5344CB8AC3E}">
        <p14:creationId xmlns:p14="http://schemas.microsoft.com/office/powerpoint/2010/main" val="684511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C1498BF-FF52-463B-B6FB-D868916D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WHAT IS DATA SCIENCE?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E09755-049B-40E1-B8A4-43C786D6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00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1B2A"/>
                </a:solidFill>
              </a:defRPr>
            </a:pPr>
            <a:r>
              <a:rPr sz="3225" b="1">
                <a:solidFill>
                  <a:srgbClr val="0D1B2A"/>
                </a:solidFill>
              </a:rPr>
              <a:t>Data science turns questions into evidence students can reason with</a:t>
            </a:r>
          </a:p>
        </p:txBody>
      </p:sp>
      <p:sp>
        <p:nvSpPr>
          <p:cNvPr id="3" name="cycle-0">
            <a:extLst xmlns:a="http://schemas.openxmlformats.org/drawingml/2006/main">
              <a:ext uri="{FF2B5EF4-FFF2-40B4-BE49-F238E27FC236}">
                <a16:creationId xmlns:a16="http://schemas.microsoft.com/office/drawing/2014/main" id="{E8431718-EDDE-48AE-873F-4698E451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38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cycle-head-0">
            <a:extLst xmlns:a="http://schemas.openxmlformats.org/drawingml/2006/main">
              <a:ext uri="{FF2B5EF4-FFF2-40B4-BE49-F238E27FC236}">
                <a16:creationId xmlns:a16="http://schemas.microsoft.com/office/drawing/2014/main" id="{6B32649B-A6B7-4856-AEC4-065BEFCA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ycle-title-0">
            <a:extLst xmlns:a="http://schemas.openxmlformats.org/drawingml/2006/main">
              <a:ext uri="{FF2B5EF4-FFF2-40B4-BE49-F238E27FC236}">
                <a16:creationId xmlns:a16="http://schemas.microsoft.com/office/drawing/2014/main" id="{9A17FCB8-2EB6-4E5E-A4E0-16D62B07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20002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6" name="cycle-body-0">
            <a:extLst xmlns:a="http://schemas.openxmlformats.org/drawingml/2006/main">
              <a:ext uri="{FF2B5EF4-FFF2-40B4-BE49-F238E27FC236}">
                <a16:creationId xmlns:a16="http://schemas.microsoft.com/office/drawing/2014/main" id="{9296CC6A-B9D6-43D5-8DD2-F2DECC91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943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D1B2A"/>
                </a:solidFill>
              </a:defRPr>
            </a:pPr>
            <a:r>
              <a:rPr sz="1650" b="0">
                <a:solidFill>
                  <a:srgbClr val="0D1B2A"/>
                </a:solidFill>
              </a:rPr>
              <a:t>Start with a question that matters</a:t>
            </a:r>
          </a:p>
        </p:txBody>
      </p:sp>
      <p:sp>
        <p:nvSpPr>
          <p:cNvPr id="7" name="cycle-1">
            <a:extLst xmlns:a="http://schemas.openxmlformats.org/drawingml/2006/main">
              <a:ext uri="{FF2B5EF4-FFF2-40B4-BE49-F238E27FC236}">
                <a16:creationId xmlns:a16="http://schemas.microsoft.com/office/drawing/2014/main" id="{99AFFA67-F1D0-4304-B91E-4B7DFE9C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38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ycle-head-1">
            <a:extLst xmlns:a="http://schemas.openxmlformats.org/drawingml/2006/main">
              <a:ext uri="{FF2B5EF4-FFF2-40B4-BE49-F238E27FC236}">
                <a16:creationId xmlns:a16="http://schemas.microsoft.com/office/drawing/2014/main" id="{3F09E85C-6D52-4736-A3CE-9EF5FD84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ycle-title-1">
            <a:extLst xmlns:a="http://schemas.openxmlformats.org/drawingml/2006/main">
              <a:ext uri="{FF2B5EF4-FFF2-40B4-BE49-F238E27FC236}">
                <a16:creationId xmlns:a16="http://schemas.microsoft.com/office/drawing/2014/main" id="{2503FF7D-2D32-4831-A993-29DC5686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20002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Collect</a:t>
            </a:r>
          </a:p>
        </p:txBody>
      </p:sp>
      <p:sp>
        <p:nvSpPr>
          <p:cNvPr id="10" name="cycle-body-1">
            <a:extLst xmlns:a="http://schemas.openxmlformats.org/drawingml/2006/main">
              <a:ext uri="{FF2B5EF4-FFF2-40B4-BE49-F238E27FC236}">
                <a16:creationId xmlns:a16="http://schemas.microsoft.com/office/drawing/2014/main" id="{2228FFCD-833F-4C60-AD17-8926F744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1943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D1B2A"/>
                </a:solidFill>
              </a:defRPr>
            </a:pPr>
            <a:r>
              <a:rPr sz="1650" b="0">
                <a:solidFill>
                  <a:srgbClr val="0D1B2A"/>
                </a:solidFill>
              </a:rPr>
              <a:t>Find or create data with context</a:t>
            </a:r>
          </a:p>
        </p:txBody>
      </p:sp>
      <p:sp>
        <p:nvSpPr>
          <p:cNvPr id="11" name="cycle-2">
            <a:extLst xmlns:a="http://schemas.openxmlformats.org/drawingml/2006/main">
              <a:ext uri="{FF2B5EF4-FFF2-40B4-BE49-F238E27FC236}">
                <a16:creationId xmlns:a16="http://schemas.microsoft.com/office/drawing/2014/main" id="{BF80B345-74E8-463F-B819-F7A0FBD2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238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cycle-head-2">
            <a:extLst xmlns:a="http://schemas.openxmlformats.org/drawingml/2006/main">
              <a:ext uri="{FF2B5EF4-FFF2-40B4-BE49-F238E27FC236}">
                <a16:creationId xmlns:a16="http://schemas.microsoft.com/office/drawing/2014/main" id="{B76CC30A-99E2-4A79-9005-C4106CC1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ycle-title-2">
            <a:extLst xmlns:a="http://schemas.openxmlformats.org/drawingml/2006/main">
              <a:ext uri="{FF2B5EF4-FFF2-40B4-BE49-F238E27FC236}">
                <a16:creationId xmlns:a16="http://schemas.microsoft.com/office/drawing/2014/main" id="{4C231625-71BC-4F8D-A0A9-127E5389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20002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4" name="cycle-body-2">
            <a:extLst xmlns:a="http://schemas.openxmlformats.org/drawingml/2006/main">
              <a:ext uri="{FF2B5EF4-FFF2-40B4-BE49-F238E27FC236}">
                <a16:creationId xmlns:a16="http://schemas.microsoft.com/office/drawing/2014/main" id="{B28750DD-20F7-4EB3-A927-099FA6A7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1943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D1B2A"/>
                </a:solidFill>
              </a:defRPr>
            </a:pPr>
            <a:r>
              <a:rPr sz="1650" b="0">
                <a:solidFill>
                  <a:srgbClr val="0D1B2A"/>
                </a:solidFill>
              </a:rPr>
              <a:t>Use computation to see patterns</a:t>
            </a:r>
          </a:p>
        </p:txBody>
      </p:sp>
      <p:sp>
        <p:nvSpPr>
          <p:cNvPr id="15" name="cycle-3">
            <a:extLst xmlns:a="http://schemas.openxmlformats.org/drawingml/2006/main">
              <a:ext uri="{FF2B5EF4-FFF2-40B4-BE49-F238E27FC236}">
                <a16:creationId xmlns:a16="http://schemas.microsoft.com/office/drawing/2014/main" id="{F103642B-DE62-48D5-BCB7-5BD79122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38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cycle-head-3">
            <a:extLst xmlns:a="http://schemas.openxmlformats.org/drawingml/2006/main">
              <a:ext uri="{FF2B5EF4-FFF2-40B4-BE49-F238E27FC236}">
                <a16:creationId xmlns:a16="http://schemas.microsoft.com/office/drawing/2014/main" id="{FF7EDE87-A248-4566-8768-22028B93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C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ycle-title-3">
            <a:extLst xmlns:a="http://schemas.openxmlformats.org/drawingml/2006/main">
              <a:ext uri="{FF2B5EF4-FFF2-40B4-BE49-F238E27FC236}">
                <a16:creationId xmlns:a16="http://schemas.microsoft.com/office/drawing/2014/main" id="{A5E1B347-B01B-45EA-BBBD-481563AF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200025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Explain</a:t>
            </a:r>
          </a:p>
        </p:txBody>
      </p:sp>
      <p:sp>
        <p:nvSpPr>
          <p:cNvPr id="18" name="cycle-body-3">
            <a:extLst xmlns:a="http://schemas.openxmlformats.org/drawingml/2006/main">
              <a:ext uri="{FF2B5EF4-FFF2-40B4-BE49-F238E27FC236}">
                <a16:creationId xmlns:a16="http://schemas.microsoft.com/office/drawing/2014/main" id="{3DFA0D79-DEEE-4922-882A-1711BA4D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1943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D1B2A"/>
                </a:solidFill>
              </a:defRPr>
            </a:pPr>
            <a:r>
              <a:rPr sz="1650" b="0">
                <a:solidFill>
                  <a:srgbClr val="0D1B2A"/>
                </a:solidFill>
              </a:rPr>
              <a:t>Make a claim and test its limits</a:t>
            </a:r>
          </a:p>
        </p:txBody>
      </p:sp>
      <p:sp>
        <p:nvSpPr>
          <p:cNvPr id="19" name="bridge">
            <a:extLst xmlns:a="http://schemas.openxmlformats.org/drawingml/2006/main">
              <a:ext uri="{FF2B5EF4-FFF2-40B4-BE49-F238E27FC236}">
                <a16:creationId xmlns:a16="http://schemas.microsoft.com/office/drawing/2014/main" id="{4DC0AB7A-FBD8-4487-BC64-2F30D2DC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1B2A"/>
                </a:solidFill>
              </a:defRPr>
            </a:pPr>
            <a:r>
              <a:rPr sz="2100" b="1">
                <a:solidFill>
                  <a:srgbClr val="0D1B2A"/>
                </a:solidFill>
              </a:rPr>
              <a:t>In this workshop, code is the tool. Classroom reasoning is the destination.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74553963-CF07-4422-8E05-5ED4C316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334000" cy="338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AZDSC Advanced Pathway | Day 1 Intro | 4</a:t>
            </a:r>
          </a:p>
        </p:txBody>
      </p:sp>
    </p:spTree>
    <p:extLst>
      <p:ext uri="{BB962C8B-B14F-4D97-AF65-F5344CB8AC3E}">
        <p14:creationId xmlns:p14="http://schemas.microsoft.com/office/powerpoint/2010/main" val="238279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F1F730B-B26E-42FE-B5C6-DEDB77F5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CLASSROOM TRANSFER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C09841-C3A6-4BCF-8C99-4C6D20E7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287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1B2A"/>
                </a:solidFill>
              </a:defRPr>
            </a:pPr>
            <a:r>
              <a:rPr sz="3225" b="1">
                <a:solidFill>
                  <a:srgbClr val="0D1B2A"/>
                </a:solidFill>
              </a:rPr>
              <a:t>Everything we practice should become something students can try</a:t>
            </a:r>
          </a:p>
        </p:txBody>
      </p:sp>
      <p:sp>
        <p:nvSpPr>
          <p:cNvPr id="3" name="left-panel">
            <a:extLst xmlns:a="http://schemas.openxmlformats.org/drawingml/2006/main">
              <a:ext uri="{FF2B5EF4-FFF2-40B4-BE49-F238E27FC236}">
                <a16:creationId xmlns:a16="http://schemas.microsoft.com/office/drawing/2014/main" id="{D4A033E1-2040-45FB-B63B-E53F8400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4953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E5B81DF8-4A97-4B86-A3D6-2D22B9D3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09575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1B2A"/>
                </a:solidFill>
              </a:defRPr>
            </a:pPr>
            <a:r>
              <a:rPr sz="2250" b="1">
                <a:solidFill>
                  <a:srgbClr val="0D1B2A"/>
                </a:solidFill>
              </a:rPr>
              <a:t>Workshop habit</a:t>
            </a:r>
          </a:p>
        </p:txBody>
      </p:sp>
      <p:sp>
        <p:nvSpPr>
          <p:cNvPr id="5" name="left-body">
            <a:extLst xmlns:a="http://schemas.openxmlformats.org/drawingml/2006/main">
              <a:ext uri="{FF2B5EF4-FFF2-40B4-BE49-F238E27FC236}">
                <a16:creationId xmlns:a16="http://schemas.microsoft.com/office/drawing/2014/main" id="{E25DD583-8ACC-4D18-A5B4-FF41905D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D1B2A"/>
                </a:solidFill>
              </a:defRPr>
            </a:pPr>
            <a:r>
              <a:rPr sz="1875" b="0">
                <a:solidFill>
                  <a:srgbClr val="0D1B2A"/>
                </a:solidFill>
              </a:rPr>
              <a:t>Run a notebook</a:t>
            </a:r>
          </a:p>
          <a:p xmlns:a="http://schemas.openxmlformats.org/drawingml/2006/main">
            <a:pPr algn="l">
              <a:defRPr sz="1875" b="0">
                <a:solidFill>
                  <a:srgbClr val="0D1B2A"/>
                </a:solidFill>
              </a:defRPr>
            </a:pPr>
            <a:r>
              <a:rPr sz="1875" b="0">
                <a:solidFill>
                  <a:srgbClr val="0D1B2A"/>
                </a:solidFill>
              </a:rPr>
              <a:t>Change one assumption</a:t>
            </a:r>
          </a:p>
          <a:p xmlns:a="http://schemas.openxmlformats.org/drawingml/2006/main">
            <a:pPr algn="l">
              <a:defRPr sz="1875" b="0">
                <a:solidFill>
                  <a:srgbClr val="0D1B2A"/>
                </a:solidFill>
              </a:defRPr>
            </a:pPr>
            <a:r>
              <a:rPr sz="1875" b="0">
                <a:solidFill>
                  <a:srgbClr val="0D1B2A"/>
                </a:solidFill>
              </a:rPr>
              <a:t>Read the graph</a:t>
            </a:r>
          </a:p>
          <a:p xmlns:a="http://schemas.openxmlformats.org/drawingml/2006/main">
            <a:pPr algn="l">
              <a:defRPr sz="1875" b="0">
                <a:solidFill>
                  <a:srgbClr val="0D1B2A"/>
                </a:solidFill>
              </a:defRPr>
            </a:pPr>
            <a:r>
              <a:rPr sz="1875" b="0">
                <a:solidFill>
                  <a:srgbClr val="0D1B2A"/>
                </a:solidFill>
              </a:rPr>
              <a:t>Explain what the model can and cannot say</a:t>
            </a:r>
          </a:p>
        </p:txBody>
      </p:sp>
      <p:sp>
        <p:nvSpPr>
          <p:cNvPr id="6" name="right-panel">
            <a:extLst xmlns:a="http://schemas.openxmlformats.org/drawingml/2006/main">
              <a:ext uri="{FF2B5EF4-FFF2-40B4-BE49-F238E27FC236}">
                <a16:creationId xmlns:a16="http://schemas.microsoft.com/office/drawing/2014/main" id="{957861C6-D7C0-4646-B30B-628C2A44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4953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right-head">
            <a:extLst xmlns:a="http://schemas.openxmlformats.org/drawingml/2006/main">
              <a:ext uri="{FF2B5EF4-FFF2-40B4-BE49-F238E27FC236}">
                <a16:creationId xmlns:a16="http://schemas.microsoft.com/office/drawing/2014/main" id="{E3B8CB02-A7CA-46B9-AB1D-B159CDCE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409575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1B2A"/>
                </a:solidFill>
              </a:defRPr>
            </a:pPr>
            <a:r>
              <a:rPr sz="2250" b="1">
                <a:solidFill>
                  <a:srgbClr val="0D1B2A"/>
                </a:solidFill>
              </a:rPr>
              <a:t>Classroom move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F3DDF358-1435-4959-A5F8-D87F278E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D1B2A"/>
                </a:solidFill>
              </a:defRPr>
            </a:pPr>
            <a:r>
              <a:rPr sz="1875" b="0">
                <a:solidFill>
                  <a:srgbClr val="0D1B2A"/>
                </a:solidFill>
              </a:rPr>
              <a:t>Ask students to predict</a:t>
            </a:r>
          </a:p>
          <a:p xmlns:a="http://schemas.openxmlformats.org/drawingml/2006/main">
            <a:pPr algn="l">
              <a:defRPr sz="1875" b="0">
                <a:solidFill>
                  <a:srgbClr val="0D1B2A"/>
                </a:solidFill>
              </a:defRPr>
            </a:pPr>
            <a:r>
              <a:rPr sz="1875" b="0">
                <a:solidFill>
                  <a:srgbClr val="0D1B2A"/>
                </a:solidFill>
              </a:rPr>
              <a:t>Let them adjust parameters</a:t>
            </a:r>
          </a:p>
          <a:p xmlns:a="http://schemas.openxmlformats.org/drawingml/2006/main">
            <a:pPr algn="l">
              <a:defRPr sz="1875" b="0">
                <a:solidFill>
                  <a:srgbClr val="0D1B2A"/>
                </a:solidFill>
              </a:defRPr>
            </a:pPr>
            <a:r>
              <a:rPr sz="1875" b="0">
                <a:solidFill>
                  <a:srgbClr val="0D1B2A"/>
                </a:solidFill>
              </a:rPr>
              <a:t>Discuss evidence</a:t>
            </a:r>
          </a:p>
          <a:p xmlns:a="http://schemas.openxmlformats.org/drawingml/2006/main">
            <a:pPr algn="l">
              <a:defRPr sz="1875" b="0">
                <a:solidFill>
                  <a:srgbClr val="0D1B2A"/>
                </a:solidFill>
              </a:defRPr>
            </a:pPr>
            <a:r>
              <a:rPr sz="1875" b="0">
                <a:solidFill>
                  <a:srgbClr val="0D1B2A"/>
                </a:solidFill>
              </a:rPr>
              <a:t>Connect the result to a real decision</a:t>
            </a:r>
          </a:p>
        </p:txBody>
      </p:sp>
      <p:sp>
        <p:nvSpPr>
          <p:cNvPr id="9" name="transfer-line">
            <a:extLst xmlns:a="http://schemas.openxmlformats.org/drawingml/2006/main">
              <a:ext uri="{FF2B5EF4-FFF2-40B4-BE49-F238E27FC236}">
                <a16:creationId xmlns:a16="http://schemas.microsoft.com/office/drawing/2014/main" id="{C93AA482-5C5F-4CDD-AA0E-DB84DF40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01917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5D04"/>
                </a:solidFill>
              </a:defRPr>
            </a:pPr>
            <a:r>
              <a:rPr sz="2100" b="1">
                <a:solidFill>
                  <a:srgbClr val="E85D04"/>
                </a:solidFill>
              </a:rPr>
              <a:t>Bring one usable routine, prompt, or notebook idea back to your classroom.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CD39E805-3D64-4AC5-9BE5-6CB94A4F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334000" cy="338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AZDSC Advanced Pathway | Day 1 Intro | 5</a:t>
            </a:r>
          </a:p>
        </p:txBody>
      </p:sp>
    </p:spTree>
    <p:extLst>
      <p:ext uri="{BB962C8B-B14F-4D97-AF65-F5344CB8AC3E}">
        <p14:creationId xmlns:p14="http://schemas.microsoft.com/office/powerpoint/2010/main" val="1350842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1B2C054-1709-4F3B-A2ED-B7F56EBB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OVERALL 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5C8255-1390-4CA9-86A5-ED5B2402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66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D1B2A"/>
                </a:solidFill>
              </a:defRPr>
            </a:pPr>
            <a:r>
              <a:rPr sz="3150" b="1">
                <a:solidFill>
                  <a:srgbClr val="0D1B2A"/>
                </a:solidFill>
              </a:rPr>
              <a:t>The pathway moves from foundations to models to classroom adaptation</a:t>
            </a:r>
          </a:p>
        </p:txBody>
      </p:sp>
      <p:sp>
        <p:nvSpPr>
          <p:cNvPr id="3" name="day-0">
            <a:extLst xmlns:a="http://schemas.openxmlformats.org/drawingml/2006/main">
              <a:ext uri="{FF2B5EF4-FFF2-40B4-BE49-F238E27FC236}">
                <a16:creationId xmlns:a16="http://schemas.microsoft.com/office/drawing/2014/main" id="{ECDB0AE9-E559-4651-9DE4-0D2EA4D1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day-head-0">
            <a:extLst xmlns:a="http://schemas.openxmlformats.org/drawingml/2006/main">
              <a:ext uri="{FF2B5EF4-FFF2-40B4-BE49-F238E27FC236}">
                <a16:creationId xmlns:a16="http://schemas.microsoft.com/office/drawing/2014/main" id="{B7090A59-38C2-4ED4-A5C9-129CDDE9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ay-title-0">
            <a:extLst xmlns:a="http://schemas.openxmlformats.org/drawingml/2006/main">
              <a:ext uri="{FF2B5EF4-FFF2-40B4-BE49-F238E27FC236}">
                <a16:creationId xmlns:a16="http://schemas.microsoft.com/office/drawing/2014/main" id="{66DA3243-0236-4C5E-8BC4-8835C1F7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287655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Day 1</a:t>
            </a:r>
          </a:p>
        </p:txBody>
      </p:sp>
      <p:sp>
        <p:nvSpPr>
          <p:cNvPr id="6" name="day-body-0">
            <a:extLst xmlns:a="http://schemas.openxmlformats.org/drawingml/2006/main">
              <a:ext uri="{FF2B5EF4-FFF2-40B4-BE49-F238E27FC236}">
                <a16:creationId xmlns:a16="http://schemas.microsoft.com/office/drawing/2014/main" id="{396CAF5B-AFB4-4FE2-A5F6-D8FF942F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6860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Python foundations</a:t>
            </a:r>
          </a:p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Visualization</a:t>
            </a:r>
          </a:p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Probability and regression</a:t>
            </a:r>
          </a:p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Logistic regression</a:t>
            </a:r>
          </a:p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Deep neural networks with PyTorch</a:t>
            </a:r>
          </a:p>
        </p:txBody>
      </p:sp>
      <p:sp>
        <p:nvSpPr>
          <p:cNvPr id="7" name="day-1">
            <a:extLst xmlns:a="http://schemas.openxmlformats.org/drawingml/2006/main">
              <a:ext uri="{FF2B5EF4-FFF2-40B4-BE49-F238E27FC236}">
                <a16:creationId xmlns:a16="http://schemas.microsoft.com/office/drawing/2014/main" id="{52992FE5-211A-43B6-906A-1F52382F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day-head-1">
            <a:extLst xmlns:a="http://schemas.openxmlformats.org/drawingml/2006/main">
              <a:ext uri="{FF2B5EF4-FFF2-40B4-BE49-F238E27FC236}">
                <a16:creationId xmlns:a16="http://schemas.microsoft.com/office/drawing/2014/main" id="{9CFFAC56-FC87-4173-9E32-726580D3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y-title-1">
            <a:extLst xmlns:a="http://schemas.openxmlformats.org/drawingml/2006/main">
              <a:ext uri="{FF2B5EF4-FFF2-40B4-BE49-F238E27FC236}">
                <a16:creationId xmlns:a16="http://schemas.microsoft.com/office/drawing/2014/main" id="{2EF5D344-B097-4A4E-9C48-94B88D14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9825"/>
            <a:ext cx="287655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Day 2</a:t>
            </a:r>
          </a:p>
        </p:txBody>
      </p:sp>
      <p:sp>
        <p:nvSpPr>
          <p:cNvPr id="10" name="day-body-1">
            <a:extLst xmlns:a="http://schemas.openxmlformats.org/drawingml/2006/main">
              <a:ext uri="{FF2B5EF4-FFF2-40B4-BE49-F238E27FC236}">
                <a16:creationId xmlns:a16="http://schemas.microsoft.com/office/drawing/2014/main" id="{D7B2E836-043A-4E6D-B057-DB8C826B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86100"/>
            <a:ext cx="26860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Dynamical systems</a:t>
            </a:r>
          </a:p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Epidemic models</a:t>
            </a:r>
          </a:p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Loss functions</a:t>
            </a:r>
          </a:p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Optimization</a:t>
            </a:r>
          </a:p>
        </p:txBody>
      </p:sp>
      <p:sp>
        <p:nvSpPr>
          <p:cNvPr id="11" name="day-2">
            <a:extLst xmlns:a="http://schemas.openxmlformats.org/drawingml/2006/main">
              <a:ext uri="{FF2B5EF4-FFF2-40B4-BE49-F238E27FC236}">
                <a16:creationId xmlns:a16="http://schemas.microsoft.com/office/drawing/2014/main" id="{630D399B-5888-441E-A36F-08F96F3B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day-head-2">
            <a:extLst xmlns:a="http://schemas.openxmlformats.org/drawingml/2006/main">
              <a:ext uri="{FF2B5EF4-FFF2-40B4-BE49-F238E27FC236}">
                <a16:creationId xmlns:a16="http://schemas.microsoft.com/office/drawing/2014/main" id="{A4436FE3-9816-4293-9B5C-840BE90E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ay-title-2">
            <a:extLst xmlns:a="http://schemas.openxmlformats.org/drawingml/2006/main">
              <a:ext uri="{FF2B5EF4-FFF2-40B4-BE49-F238E27FC236}">
                <a16:creationId xmlns:a16="http://schemas.microsoft.com/office/drawing/2014/main" id="{99157185-A47B-4A92-BA7E-BCD1BD2D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287655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Day 3</a:t>
            </a:r>
          </a:p>
        </p:txBody>
      </p:sp>
      <p:sp>
        <p:nvSpPr>
          <p:cNvPr id="14" name="day-body-2">
            <a:extLst xmlns:a="http://schemas.openxmlformats.org/drawingml/2006/main">
              <a:ext uri="{FF2B5EF4-FFF2-40B4-BE49-F238E27FC236}">
                <a16:creationId xmlns:a16="http://schemas.microsoft.com/office/drawing/2014/main" id="{59D722A6-306A-4741-A57C-AD3A482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26860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Real data workflow</a:t>
            </a:r>
          </a:p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Uncertainty and MCMC</a:t>
            </a:r>
          </a:p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DataJam</a:t>
            </a:r>
          </a:p>
          <a:p xmlns:a="http://schemas.openxmlformats.org/drawingml/2006/main">
            <a:pPr algn="ctr">
              <a:defRPr sz="1725" b="0">
                <a:solidFill>
                  <a:srgbClr val="0D1B2A"/>
                </a:solidFill>
              </a:defRPr>
            </a:pPr>
            <a:r>
              <a:rPr sz="1725" b="0">
                <a:solidFill>
                  <a:srgbClr val="0D1B2A"/>
                </a:solidFill>
              </a:rPr>
              <a:t>Classroom connections</a:t>
            </a:r>
          </a:p>
        </p:txBody>
      </p:sp>
      <p:sp>
        <p:nvSpPr>
          <p:cNvPr id="15" name="close">
            <a:extLst xmlns:a="http://schemas.openxmlformats.org/drawingml/2006/main">
              <a:ext uri="{FF2B5EF4-FFF2-40B4-BE49-F238E27FC236}">
                <a16:creationId xmlns:a16="http://schemas.microsoft.com/office/drawing/2014/main" id="{20A06689-7FD9-4554-A3AD-991F5122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382250" cy="505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1B2A"/>
                </a:solidFill>
              </a:defRPr>
            </a:pPr>
            <a:r>
              <a:rPr sz="1950" b="1">
                <a:solidFill>
                  <a:srgbClr val="0D1B2A"/>
                </a:solidFill>
              </a:rPr>
              <a:t>Keep asking: how could my students use data to make sense of this?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C83F7402-CDEA-4375-B92A-1B599918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334000" cy="338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AZDSC Advanced Pathway | Day 1 Intro | 6</a:t>
            </a:r>
          </a:p>
        </p:txBody>
      </p:sp>
    </p:spTree>
    <p:extLst>
      <p:ext uri="{BB962C8B-B14F-4D97-AF65-F5344CB8AC3E}">
        <p14:creationId xmlns:p14="http://schemas.microsoft.com/office/powerpoint/2010/main" val="2064461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2026-07-08T04:00:48.5530000Z</dcterms:created>
  <dcterms:modified xsi:type="dcterms:W3CDTF">2026-07-08T04:00:48.5530000Z</dcterms:modified>
</coreProperties>
</file>